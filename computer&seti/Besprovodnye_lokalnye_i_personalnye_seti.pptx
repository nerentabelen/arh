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Light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Urbanist Light"/>
      <p:regular r:id="rId30"/>
      <p:bold r:id="rId31"/>
      <p:italic r:id="rId32"/>
      <p:boldItalic r:id="rId33"/>
    </p:embeddedFont>
    <p:embeddedFont>
      <p:font typeface="Urbanist Medium"/>
      <p:regular r:id="rId34"/>
      <p:bold r:id="rId35"/>
      <p:italic r:id="rId36"/>
      <p:boldItalic r:id="rId37"/>
    </p:embeddedFont>
    <p:embeddedFont>
      <p:font typeface="Urbanis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AC9CE4-0051-4794-BC8A-D4861053DAC7}">
  <a:tblStyle styleId="{B2AC9CE4-0051-4794-BC8A-D4861053DA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italic.fntdata"/><Relationship Id="rId20" Type="http://schemas.openxmlformats.org/officeDocument/2006/relationships/font" Target="fonts/InterLight-italic.fntdata"/><Relationship Id="rId41" Type="http://schemas.openxmlformats.org/officeDocument/2006/relationships/font" Target="fonts/Urbanist-bold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InterLight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Light-bold.fntdata"/><Relationship Id="rId30" Type="http://schemas.openxmlformats.org/officeDocument/2006/relationships/font" Target="fonts/UrbanistLight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Light-italic.fntdata"/><Relationship Id="rId13" Type="http://schemas.openxmlformats.org/officeDocument/2006/relationships/slide" Target="slides/slide7.xml"/><Relationship Id="rId35" Type="http://schemas.openxmlformats.org/officeDocument/2006/relationships/font" Target="fonts/UrbanistMedium-bold.fntdata"/><Relationship Id="rId12" Type="http://schemas.openxmlformats.org/officeDocument/2006/relationships/slide" Target="slides/slide6.xml"/><Relationship Id="rId34" Type="http://schemas.openxmlformats.org/officeDocument/2006/relationships/font" Target="fonts/UrbanistMedium-regular.fntdata"/><Relationship Id="rId15" Type="http://schemas.openxmlformats.org/officeDocument/2006/relationships/slide" Target="slides/slide9.xml"/><Relationship Id="rId37" Type="http://schemas.openxmlformats.org/officeDocument/2006/relationships/font" Target="fonts/Urbanist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UrbanistMedium-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bold.fntdata"/><Relationship Id="rId16" Type="http://schemas.openxmlformats.org/officeDocument/2006/relationships/slide" Target="slides/slide10.xml"/><Relationship Id="rId38" Type="http://schemas.openxmlformats.org/officeDocument/2006/relationships/font" Target="fonts/Urbanist-regular.fntdata"/><Relationship Id="rId19" Type="http://schemas.openxmlformats.org/officeDocument/2006/relationships/font" Target="fonts/InterLight-bold.fntdata"/><Relationship Id="rId1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24500" y="4281487"/>
            <a:ext cx="11430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643062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0F2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NETWORK TECHNOLOGY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147887"/>
            <a:ext cx="116014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Беспроводные </a:t>
            </a:r>
            <a:r>
              <a:rPr b="1" i="0" lang="en-US" sz="615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Локальные</a:t>
            </a:r>
            <a:r>
              <a:rPr b="1" i="0" lang="en-US" sz="6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и </a:t>
            </a:r>
            <a:r>
              <a:rPr b="1" i="0" lang="en-US" sz="615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Персональные</a:t>
            </a:r>
            <a:r>
              <a:rPr b="1" i="0" lang="en-US" sz="6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сети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00587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Inter Light"/>
                <a:ea typeface="Inter Light"/>
                <a:cs typeface="Inter Light"/>
                <a:sym typeface="Inter Light"/>
              </a:rPr>
              <a:t>Архитектура, стандарты и современные технологии WLAN &amp; WPAN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881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3833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МАСШТАБИРУЕМОСТЬ СЕТЕЙ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386012"/>
            <a:ext cx="52387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Беспроводные сети классифицируются по радиусу действия и назначению. Основное различие заключается в зоне покрытия и способах использования.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92906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WLAN (Local):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Охватывают здания, офисы, кампусы. Основная технология — Wi-Fi.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7005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WPAN (Personal):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Пространство вокруг человека (до 10 м). Bluetooth, Zigbee.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92906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700587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2747962"/>
            <a:ext cx="876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3319462"/>
            <a:ext cx="876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3890962"/>
            <a:ext cx="876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2747962"/>
            <a:ext cx="2190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0" y="3319462"/>
            <a:ext cx="4381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0" y="3890962"/>
            <a:ext cx="83248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838450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Wi-Fi 5 (802.11ac)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409950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Wi-Fi 6 (802.11ax)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981450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Wi-Fi 7 (802.11be)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ЭВОЛЮЦИЯ IEEE 802.11 (WI-FI)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46529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Wi-Fi 7 внедряет каналы 320 МГц и модуляцию 4096-QAM для экстремальных скоростей в 2024-2025 гг.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881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3833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ТОПОЛОГИЯ И КОМПОНЕНТЫ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0" y="26622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Основные режимы: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62750" y="288131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Infrastructure: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Работа через Точку Доступа (AP), соединенную с проводной сетью.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62750" y="365283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Ad-Hoc: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Прямое соединение устройств (P2P) без центрального узла.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62750" y="442436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BSS / ESS: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Базовые и расширенные наборы служб для бесшовного роуминга.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81750" y="288131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3652837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442436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4587"/>
            <a:ext cx="34924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14587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14587"/>
            <a:ext cx="34924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05112"/>
            <a:ext cx="2711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2805112"/>
            <a:ext cx="27114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ПЕРСОНАЛЬНЫЕ СЕТИ (WPAN)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3500437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Bluetooth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3967162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Основной стандарт 802.15.1. Используется для периферии и аудио.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740175" y="3500437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Zigbee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740175" y="3967162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Низкоскоростной стандарт 802.15.4 для датчиков и умного дома.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18475" y="3043237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NFC / UWB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18475" y="3509962"/>
            <a:ext cx="27113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Бесконтактные платежи и точное позиционирование на сверхмалых дистанциях.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881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3833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ФОКУС: BLUETOOTH 5.4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27717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PAwR: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Периодическая реклама с ответами для тысяч узлов.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35433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LE Audio: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Новый кодек LC3 для высокого качества звука при низком битрейте.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43148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Автономность: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Экономия энергии до 20% по сравнению с версией 5.0.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277177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354330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431482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71500" y="2433637"/>
            <a:ext cx="11049000" cy="31813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19"/>
          <p:cNvGraphicFramePr/>
          <p:nvPr/>
        </p:nvGraphicFramePr>
        <p:xfrm>
          <a:off x="571500" y="24336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{B2AC9CE4-0051-4794-BC8A-D4861053DAC7}</a:tableStyleId>
              </a:tblPr>
              <a:tblGrid>
                <a:gridCol w="3966575"/>
                <a:gridCol w="2942475"/>
                <a:gridCol w="4139950"/>
              </a:tblGrid>
              <a:tr h="63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F2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Характеристика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F2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Wi-Fi (WLAN)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F2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Bluetooth (WPAN)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Дистанция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 100 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 10-30 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Скорость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Гбит/с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Мбит/с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Стандарт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IEEE 802.11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IEEE 802.15.1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Энергия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Средняя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Очень низкая (BLE)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19"/>
          <p:cNvSpPr/>
          <p:nvPr/>
        </p:nvSpPr>
        <p:spPr>
          <a:xfrm>
            <a:off x="571500" y="3124200"/>
            <a:ext cx="3966567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538067" y="3124200"/>
            <a:ext cx="2942480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480548" y="3124200"/>
            <a:ext cx="4139951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3743325"/>
            <a:ext cx="3966567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538067" y="3743325"/>
            <a:ext cx="2942480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480548" y="3743325"/>
            <a:ext cx="4139951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362450"/>
            <a:ext cx="3966567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538067" y="4362450"/>
            <a:ext cx="2942480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480548" y="4362450"/>
            <a:ext cx="4139951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4981575"/>
            <a:ext cx="3966567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538067" y="4981575"/>
            <a:ext cx="2942480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480548" y="4981575"/>
            <a:ext cx="4139951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5600700"/>
            <a:ext cx="3966567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538067" y="5600700"/>
            <a:ext cx="2942480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480548" y="5600700"/>
            <a:ext cx="4139951" cy="95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WLAN VS WPAN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881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3833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ЗАЩИТА ДАННЫХ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381750" y="26622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Стандарты шифрования: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62750" y="288131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WPA3: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Современная защита с протоколом SAE против перебора паролей.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62750" y="365283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AES-CCMP: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Блочное шифрование для высокой стойкости.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62750" y="442436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Secure Simple Pairing: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Механизмы защиты от перехвата в Bluetooth.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81750" y="288131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381750" y="3652837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381750" y="442436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160972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ИНДУСТРИЯ 4.0 И IOT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2476500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Беспроводные технологии становятся каркасом для "Умных городов" и автоматизированных производств.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52500" y="3562350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Интеграция Wi-Fi 7 и 5G.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52500" y="401955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Массовое развертывание датчиков Zigbee/Thread.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52500" y="4791075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Сверхширокополосная связь (UWB).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356235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401955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479107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5143500" y="3362325"/>
            <a:ext cx="1905000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512" y="47053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0762" y="47053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295275" y="197167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Спасибо!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36671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Время для вопросов по WLAN и WPAN сетям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21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194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09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624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197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18335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2776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35480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43195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1500" y="2767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2767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4310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5081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71500" y="5081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1666875" y="19764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https://static.vecteezy.com/system/resources/previews/037/369/009/non_2x/digital-technology-futuristic-internet-network-connection-blue-green-background-abstract-cloud-cyber-information-communication-ai-big-data-innovation-future-tech-lines-dots-illustration-3d-vector.jpg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666875" y="23955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66875" y="2926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https://cdn.mos.cms.futurecdn.net/UbcAHF6Gbw6Rur3ZNMBENZ.jpg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666875" y="3159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www.tomshardware.com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666875" y="36980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https://techhistorylab.com/wp-content/uploads/2026/05/What-is-bluetooth-1024x683.png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666875" y="39314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techhistorylab.com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666875" y="44696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https://png.pngtree.com/png-vector/20260515/ourlarge/pngtree-digital-security-concept-shield-with-padlock-cloud-and-web-interface-for-png-image_19310390.webp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666875" y="47029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666875" y="523398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https://static.vecteezy.com/system/resources/previews/004/553/201/non_2x/smart-city-isometric-architecture-concept-web-banner-with-neon-buildings-futuristic-3d-city-smartphone-app-map-intelligent-buildings-with-signs-internet-of-things-isolated-illustration-vector.jpg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666875" y="56530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